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andy Casual" charset="1" panose="00000500000000000000"/>
      <p:regular r:id="rId18"/>
    </p:embeddedFont>
    <p:embeddedFont>
      <p:font typeface="Roboto Condensed" charset="1" panose="02000000000000000000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32936" y="1490124"/>
            <a:ext cx="11022127" cy="7306752"/>
          </a:xfrm>
          <a:custGeom>
            <a:avLst/>
            <a:gdLst/>
            <a:ahLst/>
            <a:cxnLst/>
            <a:rect r="r" b="b" t="t" l="l"/>
            <a:pathLst>
              <a:path h="7306752" w="11022127">
                <a:moveTo>
                  <a:pt x="0" y="0"/>
                </a:moveTo>
                <a:lnTo>
                  <a:pt x="11022128" y="0"/>
                </a:lnTo>
                <a:lnTo>
                  <a:pt x="11022128" y="7306752"/>
                </a:lnTo>
                <a:lnTo>
                  <a:pt x="0" y="7306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628593">
            <a:off x="-531668" y="2099708"/>
            <a:ext cx="2123511" cy="3017909"/>
          </a:xfrm>
          <a:custGeom>
            <a:avLst/>
            <a:gdLst/>
            <a:ahLst/>
            <a:cxnLst/>
            <a:rect r="r" b="b" t="t" l="l"/>
            <a:pathLst>
              <a:path h="3017909" w="2123511">
                <a:moveTo>
                  <a:pt x="0" y="0"/>
                </a:moveTo>
                <a:lnTo>
                  <a:pt x="2123510" y="0"/>
                </a:lnTo>
                <a:lnTo>
                  <a:pt x="2123510" y="3017909"/>
                </a:lnTo>
                <a:lnTo>
                  <a:pt x="0" y="3017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628593">
            <a:off x="354372" y="8375899"/>
            <a:ext cx="1984942" cy="2820977"/>
          </a:xfrm>
          <a:custGeom>
            <a:avLst/>
            <a:gdLst/>
            <a:ahLst/>
            <a:cxnLst/>
            <a:rect r="r" b="b" t="t" l="l"/>
            <a:pathLst>
              <a:path h="2820977" w="1984942">
                <a:moveTo>
                  <a:pt x="0" y="0"/>
                </a:moveTo>
                <a:lnTo>
                  <a:pt x="1984942" y="0"/>
                </a:lnTo>
                <a:lnTo>
                  <a:pt x="1984942" y="2820976"/>
                </a:lnTo>
                <a:lnTo>
                  <a:pt x="0" y="2820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539200" y="-3039"/>
            <a:ext cx="3772086" cy="1769451"/>
          </a:xfrm>
          <a:custGeom>
            <a:avLst/>
            <a:gdLst/>
            <a:ahLst/>
            <a:cxnLst/>
            <a:rect r="r" b="b" t="t" l="l"/>
            <a:pathLst>
              <a:path h="1769451" w="3772086">
                <a:moveTo>
                  <a:pt x="3772086" y="0"/>
                </a:moveTo>
                <a:lnTo>
                  <a:pt x="0" y="0"/>
                </a:lnTo>
                <a:lnTo>
                  <a:pt x="0" y="1769452"/>
                </a:lnTo>
                <a:lnTo>
                  <a:pt x="3772086" y="1769452"/>
                </a:lnTo>
                <a:lnTo>
                  <a:pt x="37720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431193" y="5758874"/>
            <a:ext cx="3772086" cy="1769451"/>
          </a:xfrm>
          <a:custGeom>
            <a:avLst/>
            <a:gdLst/>
            <a:ahLst/>
            <a:cxnLst/>
            <a:rect r="r" b="b" t="t" l="l"/>
            <a:pathLst>
              <a:path h="1769451" w="3772086">
                <a:moveTo>
                  <a:pt x="3772087" y="0"/>
                </a:moveTo>
                <a:lnTo>
                  <a:pt x="0" y="0"/>
                </a:lnTo>
                <a:lnTo>
                  <a:pt x="0" y="1769451"/>
                </a:lnTo>
                <a:lnTo>
                  <a:pt x="3772087" y="1769451"/>
                </a:lnTo>
                <a:lnTo>
                  <a:pt x="377208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54157" y="-3039"/>
            <a:ext cx="3772086" cy="1769451"/>
          </a:xfrm>
          <a:custGeom>
            <a:avLst/>
            <a:gdLst/>
            <a:ahLst/>
            <a:cxnLst/>
            <a:rect r="r" b="b" t="t" l="l"/>
            <a:pathLst>
              <a:path h="1769451" w="3772086">
                <a:moveTo>
                  <a:pt x="0" y="0"/>
                </a:moveTo>
                <a:lnTo>
                  <a:pt x="3772086" y="0"/>
                </a:lnTo>
                <a:lnTo>
                  <a:pt x="3772086" y="1769452"/>
                </a:lnTo>
                <a:lnTo>
                  <a:pt x="0" y="17694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2463269">
            <a:off x="16197545" y="2296389"/>
            <a:ext cx="2123511" cy="3017909"/>
          </a:xfrm>
          <a:custGeom>
            <a:avLst/>
            <a:gdLst/>
            <a:ahLst/>
            <a:cxnLst/>
            <a:rect r="r" b="b" t="t" l="l"/>
            <a:pathLst>
              <a:path h="3017909" w="2123511">
                <a:moveTo>
                  <a:pt x="2123510" y="0"/>
                </a:moveTo>
                <a:lnTo>
                  <a:pt x="0" y="0"/>
                </a:lnTo>
                <a:lnTo>
                  <a:pt x="0" y="3017909"/>
                </a:lnTo>
                <a:lnTo>
                  <a:pt x="2123510" y="3017909"/>
                </a:lnTo>
                <a:lnTo>
                  <a:pt x="21235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67600" y="5821535"/>
            <a:ext cx="3772086" cy="1769451"/>
          </a:xfrm>
          <a:custGeom>
            <a:avLst/>
            <a:gdLst/>
            <a:ahLst/>
            <a:cxnLst/>
            <a:rect r="r" b="b" t="t" l="l"/>
            <a:pathLst>
              <a:path h="1769451" w="3772086">
                <a:moveTo>
                  <a:pt x="0" y="0"/>
                </a:moveTo>
                <a:lnTo>
                  <a:pt x="3772086" y="0"/>
                </a:lnTo>
                <a:lnTo>
                  <a:pt x="3772086" y="1769451"/>
                </a:lnTo>
                <a:lnTo>
                  <a:pt x="0" y="17694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874021">
            <a:off x="15676821" y="8528418"/>
            <a:ext cx="2014808" cy="2863422"/>
          </a:xfrm>
          <a:custGeom>
            <a:avLst/>
            <a:gdLst/>
            <a:ahLst/>
            <a:cxnLst/>
            <a:rect r="r" b="b" t="t" l="l"/>
            <a:pathLst>
              <a:path h="2863422" w="2014808">
                <a:moveTo>
                  <a:pt x="2014808" y="0"/>
                </a:moveTo>
                <a:lnTo>
                  <a:pt x="0" y="0"/>
                </a:lnTo>
                <a:lnTo>
                  <a:pt x="0" y="2863422"/>
                </a:lnTo>
                <a:lnTo>
                  <a:pt x="2014808" y="2863422"/>
                </a:lnTo>
                <a:lnTo>
                  <a:pt x="201480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79185" y="4848225"/>
            <a:ext cx="8929631" cy="2623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95"/>
              </a:lnSpc>
            </a:pPr>
            <a:r>
              <a:rPr lang="en-US" sz="1535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GUIDE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08944" y="3780100"/>
            <a:ext cx="5870112" cy="136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51"/>
              </a:lnSpc>
            </a:pPr>
            <a:r>
              <a:rPr lang="en-US" sz="78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BLOCKCHAIN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572" y="281170"/>
            <a:ext cx="15584856" cy="10331461"/>
          </a:xfrm>
          <a:custGeom>
            <a:avLst/>
            <a:gdLst/>
            <a:ahLst/>
            <a:cxnLst/>
            <a:rect r="r" b="b" t="t" l="l"/>
            <a:pathLst>
              <a:path h="10331461" w="15584856">
                <a:moveTo>
                  <a:pt x="0" y="0"/>
                </a:moveTo>
                <a:lnTo>
                  <a:pt x="15584856" y="0"/>
                </a:lnTo>
                <a:lnTo>
                  <a:pt x="15584856" y="10331460"/>
                </a:lnTo>
                <a:lnTo>
                  <a:pt x="0" y="10331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83331" y="7080982"/>
            <a:ext cx="3942925" cy="4354636"/>
          </a:xfrm>
          <a:custGeom>
            <a:avLst/>
            <a:gdLst/>
            <a:ahLst/>
            <a:cxnLst/>
            <a:rect r="r" b="b" t="t" l="l"/>
            <a:pathLst>
              <a:path h="4354636" w="3942925">
                <a:moveTo>
                  <a:pt x="0" y="0"/>
                </a:moveTo>
                <a:lnTo>
                  <a:pt x="3942925" y="0"/>
                </a:lnTo>
                <a:lnTo>
                  <a:pt x="3942925" y="4354636"/>
                </a:lnTo>
                <a:lnTo>
                  <a:pt x="0" y="4354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83029">
            <a:off x="410874" y="8029703"/>
            <a:ext cx="3707001" cy="1725440"/>
          </a:xfrm>
          <a:custGeom>
            <a:avLst/>
            <a:gdLst/>
            <a:ahLst/>
            <a:cxnLst/>
            <a:rect r="r" b="b" t="t" l="l"/>
            <a:pathLst>
              <a:path h="1725440" w="3707001">
                <a:moveTo>
                  <a:pt x="0" y="0"/>
                </a:moveTo>
                <a:lnTo>
                  <a:pt x="3707001" y="0"/>
                </a:lnTo>
                <a:lnTo>
                  <a:pt x="3707001" y="1725441"/>
                </a:lnTo>
                <a:lnTo>
                  <a:pt x="0" y="1725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93971" y="3100266"/>
            <a:ext cx="10950975" cy="686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22"/>
              </a:lnSpc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blockchain is:</a:t>
            </a:r>
          </a:p>
          <a:p>
            <a:pPr algn="just">
              <a:lnSpc>
                <a:spcPts val="4522"/>
              </a:lnSpc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shared, immutable database that no single entity controls.</a:t>
            </a:r>
          </a:p>
          <a:p>
            <a:pPr algn="just">
              <a:lnSpc>
                <a:spcPts val="4522"/>
              </a:lnSpc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Key ideas:</a:t>
            </a:r>
          </a:p>
          <a:p>
            <a:pPr algn="just" marL="697413" indent="-348706" lvl="1">
              <a:lnSpc>
                <a:spcPts val="4522"/>
              </a:lnSpc>
              <a:buFont typeface="Arial"/>
              <a:buChar char="•"/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Blocks = groups of transactions</a:t>
            </a:r>
          </a:p>
          <a:p>
            <a:pPr algn="just" marL="697413" indent="-348706" lvl="1">
              <a:lnSpc>
                <a:spcPts val="4522"/>
              </a:lnSpc>
              <a:buFont typeface="Arial"/>
              <a:buChar char="•"/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Chain = blocks linked together</a:t>
            </a:r>
          </a:p>
          <a:p>
            <a:pPr algn="just" marL="697413" indent="-348706" lvl="1">
              <a:lnSpc>
                <a:spcPts val="4522"/>
              </a:lnSpc>
              <a:buFont typeface="Arial"/>
              <a:buChar char="•"/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Nodes = computers validating data</a:t>
            </a:r>
          </a:p>
          <a:p>
            <a:pPr algn="just" marL="697413" indent="-348706" lvl="1">
              <a:lnSpc>
                <a:spcPts val="4522"/>
              </a:lnSpc>
              <a:buFont typeface="Arial"/>
              <a:buChar char="•"/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Immutable = once written, it can’t be changed</a:t>
            </a:r>
          </a:p>
          <a:p>
            <a:pPr algn="just" marL="697413" indent="-348706" lvl="1">
              <a:lnSpc>
                <a:spcPts val="4522"/>
              </a:lnSpc>
              <a:buFont typeface="Arial"/>
              <a:buChar char="•"/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Transparent = anyone can verify</a:t>
            </a:r>
          </a:p>
          <a:p>
            <a:pPr algn="just">
              <a:lnSpc>
                <a:spcPts val="4522"/>
              </a:lnSpc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👉 In crypto:</a:t>
            </a:r>
          </a:p>
          <a:p>
            <a:pPr algn="just" marL="697413" indent="-348706" lvl="1">
              <a:lnSpc>
                <a:spcPts val="4522"/>
              </a:lnSpc>
              <a:buFont typeface="Arial"/>
              <a:buChar char="•"/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Wallets don’t “store money”</a:t>
            </a:r>
          </a:p>
          <a:p>
            <a:pPr algn="just" marL="697413" indent="-348706" lvl="1">
              <a:lnSpc>
                <a:spcPts val="4522"/>
              </a:lnSpc>
              <a:buFont typeface="Arial"/>
              <a:buChar char="•"/>
            </a:pPr>
            <a:r>
              <a:rPr lang="en-US" sz="323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They store private keys that control assets on the blockchain</a:t>
            </a:r>
          </a:p>
          <a:p>
            <a:pPr algn="just">
              <a:lnSpc>
                <a:spcPts val="452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83980" y="373252"/>
            <a:ext cx="14391696" cy="9540495"/>
          </a:xfrm>
          <a:custGeom>
            <a:avLst/>
            <a:gdLst/>
            <a:ahLst/>
            <a:cxnLst/>
            <a:rect r="r" b="b" t="t" l="l"/>
            <a:pathLst>
              <a:path h="9540495" w="14391696">
                <a:moveTo>
                  <a:pt x="0" y="0"/>
                </a:moveTo>
                <a:lnTo>
                  <a:pt x="14391696" y="0"/>
                </a:lnTo>
                <a:lnTo>
                  <a:pt x="14391696" y="9540496"/>
                </a:lnTo>
                <a:lnTo>
                  <a:pt x="0" y="9540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86285" y="3127511"/>
            <a:ext cx="10987085" cy="1114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39"/>
              </a:lnSpc>
            </a:pPr>
            <a:r>
              <a:rPr lang="en-US" sz="6528" spc="-16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HOW BLOCKCHAIN FITS YOUR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86285" y="4349050"/>
            <a:ext cx="11822131" cy="556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project is NOT a blockchain product first.</a:t>
            </a:r>
          </a:p>
          <a:p>
            <a:pPr algn="just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👉 It is:</a:t>
            </a:r>
          </a:p>
          <a:p>
            <a:pPr algn="just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AI + behavioral finance layer</a:t>
            </a:r>
          </a:p>
          <a:p>
            <a:pPr algn="just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Blockchain is:</a:t>
            </a:r>
          </a:p>
          <a:p>
            <a:pPr algn="just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👉 the infrastructure layer (where transactions happen)</a:t>
            </a:r>
          </a:p>
          <a:p>
            <a:pPr algn="just">
              <a:lnSpc>
                <a:spcPts val="4430"/>
              </a:lnSpc>
            </a:pPr>
            <a:r>
              <a:rPr lang="en-US" sz="3164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🎯 Your architecture in simple terms:</a:t>
            </a:r>
          </a:p>
          <a:p>
            <a:pPr algn="just" marL="683323" indent="-341661" lvl="1">
              <a:lnSpc>
                <a:spcPts val="4430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Blockchain → executes transactions</a:t>
            </a:r>
          </a:p>
          <a:p>
            <a:pPr algn="just" marL="683323" indent="-341661" lvl="1">
              <a:lnSpc>
                <a:spcPts val="4430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Wallet → interface to interact with blockchain</a:t>
            </a:r>
          </a:p>
          <a:p>
            <a:pPr algn="just" marL="683323" indent="-341661" lvl="1">
              <a:lnSpc>
                <a:spcPts val="4430"/>
              </a:lnSpc>
              <a:buFont typeface="Arial"/>
              <a:buChar char="•"/>
            </a:pPr>
            <a:r>
              <a:rPr lang="en-US" sz="3164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AI → sits ON TOP and guides decisions</a:t>
            </a:r>
          </a:p>
          <a:p>
            <a:pPr algn="just">
              <a:lnSpc>
                <a:spcPts val="443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160592">
            <a:off x="-101052" y="1349966"/>
            <a:ext cx="3395394" cy="3314753"/>
          </a:xfrm>
          <a:custGeom>
            <a:avLst/>
            <a:gdLst/>
            <a:ahLst/>
            <a:cxnLst/>
            <a:rect r="r" b="b" t="t" l="l"/>
            <a:pathLst>
              <a:path h="3314753" w="3395394">
                <a:moveTo>
                  <a:pt x="0" y="0"/>
                </a:moveTo>
                <a:lnTo>
                  <a:pt x="3395394" y="0"/>
                </a:lnTo>
                <a:lnTo>
                  <a:pt x="3395394" y="3314754"/>
                </a:lnTo>
                <a:lnTo>
                  <a:pt x="0" y="3314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0104" y="7669378"/>
            <a:ext cx="2803868" cy="3411786"/>
          </a:xfrm>
          <a:custGeom>
            <a:avLst/>
            <a:gdLst/>
            <a:ahLst/>
            <a:cxnLst/>
            <a:rect r="r" b="b" t="t" l="l"/>
            <a:pathLst>
              <a:path h="3411786" w="2803868">
                <a:moveTo>
                  <a:pt x="0" y="0"/>
                </a:moveTo>
                <a:lnTo>
                  <a:pt x="2803868" y="0"/>
                </a:lnTo>
                <a:lnTo>
                  <a:pt x="2803868" y="3411786"/>
                </a:lnTo>
                <a:lnTo>
                  <a:pt x="0" y="34117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130" y="801979"/>
            <a:ext cx="16765740" cy="7949755"/>
          </a:xfrm>
          <a:custGeom>
            <a:avLst/>
            <a:gdLst/>
            <a:ahLst/>
            <a:cxnLst/>
            <a:rect r="r" b="b" t="t" l="l"/>
            <a:pathLst>
              <a:path h="7949755" w="16765740">
                <a:moveTo>
                  <a:pt x="0" y="0"/>
                </a:moveTo>
                <a:lnTo>
                  <a:pt x="16765740" y="0"/>
                </a:lnTo>
                <a:lnTo>
                  <a:pt x="16765740" y="7949755"/>
                </a:lnTo>
                <a:lnTo>
                  <a:pt x="0" y="7949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18972" y="3872755"/>
            <a:ext cx="11050056" cy="90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2"/>
              </a:lnSpc>
            </a:pPr>
            <a:r>
              <a:rPr lang="en-US" sz="528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WHERE BLOCKCHAIN ADDS VALUE IN YOUR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82097" y="4897449"/>
            <a:ext cx="12523807" cy="385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✅ 1. Reading user transactions (MOST IMPORTANT)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AI needs: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transaction history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token movements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timing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👉 This comes from blockchain</a:t>
            </a:r>
          </a:p>
          <a:p>
            <a:pPr algn="just">
              <a:lnSpc>
                <a:spcPts val="438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130" y="801979"/>
            <a:ext cx="16765740" cy="7949755"/>
          </a:xfrm>
          <a:custGeom>
            <a:avLst/>
            <a:gdLst/>
            <a:ahLst/>
            <a:cxnLst/>
            <a:rect r="r" b="b" t="t" l="l"/>
            <a:pathLst>
              <a:path h="7949755" w="16765740">
                <a:moveTo>
                  <a:pt x="0" y="0"/>
                </a:moveTo>
                <a:lnTo>
                  <a:pt x="16765740" y="0"/>
                </a:lnTo>
                <a:lnTo>
                  <a:pt x="16765740" y="7949755"/>
                </a:lnTo>
                <a:lnTo>
                  <a:pt x="0" y="7949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11495" y="4117748"/>
            <a:ext cx="12523807" cy="385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✅ 2. Optional: On-chain behavior analysis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can analyze: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frequency of trades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size of trades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interaction with protocols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👉 This feeds your AI model</a:t>
            </a:r>
          </a:p>
          <a:p>
            <a:pPr algn="just">
              <a:lnSpc>
                <a:spcPts val="438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130" y="801979"/>
            <a:ext cx="16765740" cy="7949755"/>
          </a:xfrm>
          <a:custGeom>
            <a:avLst/>
            <a:gdLst/>
            <a:ahLst/>
            <a:cxnLst/>
            <a:rect r="r" b="b" t="t" l="l"/>
            <a:pathLst>
              <a:path h="7949755" w="16765740">
                <a:moveTo>
                  <a:pt x="0" y="0"/>
                </a:moveTo>
                <a:lnTo>
                  <a:pt x="16765740" y="0"/>
                </a:lnTo>
                <a:lnTo>
                  <a:pt x="16765740" y="7949755"/>
                </a:lnTo>
                <a:lnTo>
                  <a:pt x="0" y="7949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11495" y="4117748"/>
            <a:ext cx="12523807" cy="274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✅ 3. Optional: Proof / transparency layer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Future idea: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store “behavior scores” or achievements on-chain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verifiable learning / reputation</a:t>
            </a:r>
          </a:p>
          <a:p>
            <a:pPr algn="just">
              <a:lnSpc>
                <a:spcPts val="438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130" y="801979"/>
            <a:ext cx="16765740" cy="7949755"/>
          </a:xfrm>
          <a:custGeom>
            <a:avLst/>
            <a:gdLst/>
            <a:ahLst/>
            <a:cxnLst/>
            <a:rect r="r" b="b" t="t" l="l"/>
            <a:pathLst>
              <a:path h="7949755" w="16765740">
                <a:moveTo>
                  <a:pt x="0" y="0"/>
                </a:moveTo>
                <a:lnTo>
                  <a:pt x="16765740" y="0"/>
                </a:lnTo>
                <a:lnTo>
                  <a:pt x="16765740" y="7949755"/>
                </a:lnTo>
                <a:lnTo>
                  <a:pt x="0" y="7949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11495" y="4117748"/>
            <a:ext cx="12523807" cy="274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❌ What you DON’T need (for hackathon):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creating your own blockchain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complex smart contracts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token launch</a:t>
            </a:r>
          </a:p>
          <a:p>
            <a:pPr algn="just">
              <a:lnSpc>
                <a:spcPts val="438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572" y="281170"/>
            <a:ext cx="15584856" cy="10331461"/>
          </a:xfrm>
          <a:custGeom>
            <a:avLst/>
            <a:gdLst/>
            <a:ahLst/>
            <a:cxnLst/>
            <a:rect r="r" b="b" t="t" l="l"/>
            <a:pathLst>
              <a:path h="10331461" w="15584856">
                <a:moveTo>
                  <a:pt x="0" y="0"/>
                </a:moveTo>
                <a:lnTo>
                  <a:pt x="15584856" y="0"/>
                </a:lnTo>
                <a:lnTo>
                  <a:pt x="15584856" y="10331460"/>
                </a:lnTo>
                <a:lnTo>
                  <a:pt x="0" y="10331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83331" y="7080982"/>
            <a:ext cx="3942925" cy="4354636"/>
          </a:xfrm>
          <a:custGeom>
            <a:avLst/>
            <a:gdLst/>
            <a:ahLst/>
            <a:cxnLst/>
            <a:rect r="r" b="b" t="t" l="l"/>
            <a:pathLst>
              <a:path h="4354636" w="3942925">
                <a:moveTo>
                  <a:pt x="0" y="0"/>
                </a:moveTo>
                <a:lnTo>
                  <a:pt x="3942925" y="0"/>
                </a:lnTo>
                <a:lnTo>
                  <a:pt x="3942925" y="4354636"/>
                </a:lnTo>
                <a:lnTo>
                  <a:pt x="0" y="4354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83029">
            <a:off x="410874" y="8029703"/>
            <a:ext cx="3707001" cy="1725440"/>
          </a:xfrm>
          <a:custGeom>
            <a:avLst/>
            <a:gdLst/>
            <a:ahLst/>
            <a:cxnLst/>
            <a:rect r="r" b="b" t="t" l="l"/>
            <a:pathLst>
              <a:path h="1725440" w="3707001">
                <a:moveTo>
                  <a:pt x="0" y="0"/>
                </a:moveTo>
                <a:lnTo>
                  <a:pt x="3707001" y="0"/>
                </a:lnTo>
                <a:lnTo>
                  <a:pt x="3707001" y="1725441"/>
                </a:lnTo>
                <a:lnTo>
                  <a:pt x="0" y="1725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15944" y="1538556"/>
            <a:ext cx="640392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TECHNICAL FLOW (END-TO-END)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15944" y="2967838"/>
            <a:ext cx="14275875" cy="716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1: User connects wallet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MetaMask or similar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get:</a:t>
            </a:r>
          </a:p>
          <a:p>
            <a:pPr algn="just" marL="1352181" indent="-450727" lvl="2">
              <a:lnSpc>
                <a:spcPts val="4384"/>
              </a:lnSpc>
              <a:buFont typeface="Arial"/>
              <a:buChar char="⚬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wallet address (public)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2: Fetch blockchain data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use APIs like: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Alchemy - Moralis - Etherscan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👉 You retrieve: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transactions - balances - activity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3: Process data (your backend)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convert raw data into: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trade frequency - buy/sell timing - patterns</a:t>
            </a:r>
          </a:p>
          <a:p>
            <a:pPr algn="just">
              <a:lnSpc>
                <a:spcPts val="438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572" y="281170"/>
            <a:ext cx="15584856" cy="10331461"/>
          </a:xfrm>
          <a:custGeom>
            <a:avLst/>
            <a:gdLst/>
            <a:ahLst/>
            <a:cxnLst/>
            <a:rect r="r" b="b" t="t" l="l"/>
            <a:pathLst>
              <a:path h="10331461" w="15584856">
                <a:moveTo>
                  <a:pt x="0" y="0"/>
                </a:moveTo>
                <a:lnTo>
                  <a:pt x="15584856" y="0"/>
                </a:lnTo>
                <a:lnTo>
                  <a:pt x="15584856" y="10331460"/>
                </a:lnTo>
                <a:lnTo>
                  <a:pt x="0" y="10331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5944" y="1538556"/>
            <a:ext cx="640392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TECHNICAL FLOW (END-TO-END)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61452" y="2891195"/>
            <a:ext cx="14997848" cy="772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4: Detect behavior patterns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logic: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buying after pump → FOMO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selling after drop → panic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5: Send to AI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pass: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action - detected pattern - context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6: AI generates coaching response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Example: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“Based on your recent activity, this looks like a reactive decision rather than a planned one.”</a:t>
            </a:r>
          </a:p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Step 7: Show inside wallet UI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before confirming transaction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 as alert</a:t>
            </a:r>
          </a:p>
          <a:p>
            <a:pPr algn="just">
              <a:lnSpc>
                <a:spcPts val="438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572" y="281170"/>
            <a:ext cx="15584856" cy="10331461"/>
          </a:xfrm>
          <a:custGeom>
            <a:avLst/>
            <a:gdLst/>
            <a:ahLst/>
            <a:cxnLst/>
            <a:rect r="r" b="b" t="t" l="l"/>
            <a:pathLst>
              <a:path h="10331461" w="15584856">
                <a:moveTo>
                  <a:pt x="0" y="0"/>
                </a:moveTo>
                <a:lnTo>
                  <a:pt x="15584856" y="0"/>
                </a:lnTo>
                <a:lnTo>
                  <a:pt x="15584856" y="10331460"/>
                </a:lnTo>
                <a:lnTo>
                  <a:pt x="0" y="10331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2378" y="3013240"/>
            <a:ext cx="524340" cy="524340"/>
          </a:xfrm>
          <a:custGeom>
            <a:avLst/>
            <a:gdLst/>
            <a:ahLst/>
            <a:cxnLst/>
            <a:rect r="r" b="b" t="t" l="l"/>
            <a:pathLst>
              <a:path h="524340" w="524340">
                <a:moveTo>
                  <a:pt x="0" y="0"/>
                </a:moveTo>
                <a:lnTo>
                  <a:pt x="524340" y="0"/>
                </a:lnTo>
                <a:lnTo>
                  <a:pt x="524340" y="524340"/>
                </a:lnTo>
                <a:lnTo>
                  <a:pt x="0" y="5243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72166" y="3013240"/>
            <a:ext cx="524340" cy="524340"/>
          </a:xfrm>
          <a:custGeom>
            <a:avLst/>
            <a:gdLst/>
            <a:ahLst/>
            <a:cxnLst/>
            <a:rect r="r" b="b" t="t" l="l"/>
            <a:pathLst>
              <a:path h="524340" w="524340">
                <a:moveTo>
                  <a:pt x="0" y="0"/>
                </a:moveTo>
                <a:lnTo>
                  <a:pt x="524340" y="0"/>
                </a:lnTo>
                <a:lnTo>
                  <a:pt x="524340" y="524340"/>
                </a:lnTo>
                <a:lnTo>
                  <a:pt x="0" y="5243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62378" y="5446900"/>
            <a:ext cx="524340" cy="524340"/>
          </a:xfrm>
          <a:custGeom>
            <a:avLst/>
            <a:gdLst/>
            <a:ahLst/>
            <a:cxnLst/>
            <a:rect r="r" b="b" t="t" l="l"/>
            <a:pathLst>
              <a:path h="524340" w="524340">
                <a:moveTo>
                  <a:pt x="0" y="0"/>
                </a:moveTo>
                <a:lnTo>
                  <a:pt x="524340" y="0"/>
                </a:lnTo>
                <a:lnTo>
                  <a:pt x="524340" y="524340"/>
                </a:lnTo>
                <a:lnTo>
                  <a:pt x="0" y="524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72166" y="5446900"/>
            <a:ext cx="524340" cy="524340"/>
          </a:xfrm>
          <a:custGeom>
            <a:avLst/>
            <a:gdLst/>
            <a:ahLst/>
            <a:cxnLst/>
            <a:rect r="r" b="b" t="t" l="l"/>
            <a:pathLst>
              <a:path h="524340" w="524340">
                <a:moveTo>
                  <a:pt x="0" y="0"/>
                </a:moveTo>
                <a:lnTo>
                  <a:pt x="524340" y="0"/>
                </a:lnTo>
                <a:lnTo>
                  <a:pt x="524340" y="524340"/>
                </a:lnTo>
                <a:lnTo>
                  <a:pt x="0" y="5243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62378" y="8434410"/>
            <a:ext cx="524340" cy="524340"/>
          </a:xfrm>
          <a:custGeom>
            <a:avLst/>
            <a:gdLst/>
            <a:ahLst/>
            <a:cxnLst/>
            <a:rect r="r" b="b" t="t" l="l"/>
            <a:pathLst>
              <a:path h="524340" w="524340">
                <a:moveTo>
                  <a:pt x="0" y="0"/>
                </a:moveTo>
                <a:lnTo>
                  <a:pt x="524340" y="0"/>
                </a:lnTo>
                <a:lnTo>
                  <a:pt x="524340" y="524340"/>
                </a:lnTo>
                <a:lnTo>
                  <a:pt x="0" y="5243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72166" y="8434410"/>
            <a:ext cx="524340" cy="524340"/>
          </a:xfrm>
          <a:custGeom>
            <a:avLst/>
            <a:gdLst/>
            <a:ahLst/>
            <a:cxnLst/>
            <a:rect r="r" b="b" t="t" l="l"/>
            <a:pathLst>
              <a:path h="524340" w="524340">
                <a:moveTo>
                  <a:pt x="0" y="0"/>
                </a:moveTo>
                <a:lnTo>
                  <a:pt x="524340" y="0"/>
                </a:lnTo>
                <a:lnTo>
                  <a:pt x="524340" y="524340"/>
                </a:lnTo>
                <a:lnTo>
                  <a:pt x="0" y="5243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15386" y="1538556"/>
            <a:ext cx="5805041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MINIMAL BLOCKCHAIN STACK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15031" y="2946565"/>
            <a:ext cx="4860879" cy="219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🔹 Wallet connection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MetaMask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WalletConnect</a:t>
            </a:r>
          </a:p>
          <a:p>
            <a:pPr algn="just">
              <a:lnSpc>
                <a:spcPts val="438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896506" y="2891195"/>
            <a:ext cx="4860879" cy="274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🔹 Blockchain network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Ethereum (most common)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or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Polygon (cheaper, faster)</a:t>
            </a:r>
          </a:p>
          <a:p>
            <a:pPr algn="just">
              <a:lnSpc>
                <a:spcPts val="438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486718" y="5380225"/>
            <a:ext cx="4860879" cy="274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🔹 Data providers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Alchemy API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or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Moralis</a:t>
            </a:r>
          </a:p>
          <a:p>
            <a:pPr algn="just">
              <a:lnSpc>
                <a:spcPts val="438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896506" y="5730639"/>
            <a:ext cx="4860879" cy="164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🔹 Backend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Node.js / Python</a:t>
            </a:r>
          </a:p>
          <a:p>
            <a:pPr algn="just">
              <a:lnSpc>
                <a:spcPts val="438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486718" y="8367735"/>
            <a:ext cx="4860879" cy="164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🔹 AI layer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OpenAI API</a:t>
            </a:r>
          </a:p>
          <a:p>
            <a:pPr algn="just">
              <a:lnSpc>
                <a:spcPts val="438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8367735"/>
            <a:ext cx="4860879" cy="164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4"/>
              </a:lnSpc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🔹 Frontend</a:t>
            </a:r>
          </a:p>
          <a:p>
            <a:pPr algn="just" marL="676090" indent="-338045" lvl="1">
              <a:lnSpc>
                <a:spcPts val="4384"/>
              </a:lnSpc>
              <a:buFont typeface="Arial"/>
              <a:buChar char="•"/>
            </a:pPr>
            <a:r>
              <a:rPr lang="en-US" sz="313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React / simple web app</a:t>
            </a:r>
          </a:p>
          <a:p>
            <a:pPr algn="just">
              <a:lnSpc>
                <a:spcPts val="4384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24312" y="1847160"/>
            <a:ext cx="4648652" cy="6606611"/>
          </a:xfrm>
          <a:custGeom>
            <a:avLst/>
            <a:gdLst/>
            <a:ahLst/>
            <a:cxnLst/>
            <a:rect r="r" b="b" t="t" l="l"/>
            <a:pathLst>
              <a:path h="6606611" w="4648652">
                <a:moveTo>
                  <a:pt x="0" y="0"/>
                </a:moveTo>
                <a:lnTo>
                  <a:pt x="4648652" y="0"/>
                </a:lnTo>
                <a:lnTo>
                  <a:pt x="4648652" y="6606611"/>
                </a:lnTo>
                <a:lnTo>
                  <a:pt x="0" y="660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7626" y="1847160"/>
            <a:ext cx="9986990" cy="6620542"/>
          </a:xfrm>
          <a:custGeom>
            <a:avLst/>
            <a:gdLst/>
            <a:ahLst/>
            <a:cxnLst/>
            <a:rect r="r" b="b" t="t" l="l"/>
            <a:pathLst>
              <a:path h="6620542" w="9986990">
                <a:moveTo>
                  <a:pt x="0" y="0"/>
                </a:moveTo>
                <a:lnTo>
                  <a:pt x="9986990" y="0"/>
                </a:lnTo>
                <a:lnTo>
                  <a:pt x="9986990" y="6620542"/>
                </a:lnTo>
                <a:lnTo>
                  <a:pt x="0" y="66205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25963" y="3353931"/>
            <a:ext cx="8570315" cy="111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2"/>
              </a:lnSpc>
            </a:pPr>
            <a:r>
              <a:rPr lang="en-US" sz="646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IMPORTANT DESIGN DECISION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33957" y="4540020"/>
            <a:ext cx="8954328" cy="396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👉 You DO NOT control funds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app: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reads data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suggests decisions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executes transaction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💥 This is CRITICAL (legal + trust)</a:t>
            </a: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1595" y="2387451"/>
            <a:ext cx="11624809" cy="5512097"/>
          </a:xfrm>
          <a:custGeom>
            <a:avLst/>
            <a:gdLst/>
            <a:ahLst/>
            <a:cxnLst/>
            <a:rect r="r" b="b" t="t" l="l"/>
            <a:pathLst>
              <a:path h="5512097" w="11624809">
                <a:moveTo>
                  <a:pt x="0" y="0"/>
                </a:moveTo>
                <a:lnTo>
                  <a:pt x="11624810" y="0"/>
                </a:lnTo>
                <a:lnTo>
                  <a:pt x="11624810" y="5512098"/>
                </a:lnTo>
                <a:lnTo>
                  <a:pt x="0" y="5512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23351" y="5697251"/>
            <a:ext cx="3351881" cy="2344920"/>
          </a:xfrm>
          <a:custGeom>
            <a:avLst/>
            <a:gdLst/>
            <a:ahLst/>
            <a:cxnLst/>
            <a:rect r="r" b="b" t="t" l="l"/>
            <a:pathLst>
              <a:path h="2344920" w="3351881">
                <a:moveTo>
                  <a:pt x="0" y="0"/>
                </a:moveTo>
                <a:lnTo>
                  <a:pt x="3351882" y="0"/>
                </a:lnTo>
                <a:lnTo>
                  <a:pt x="3351882" y="2344920"/>
                </a:lnTo>
                <a:lnTo>
                  <a:pt x="0" y="23449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17547" y="5202692"/>
            <a:ext cx="3218050" cy="3218050"/>
          </a:xfrm>
          <a:custGeom>
            <a:avLst/>
            <a:gdLst/>
            <a:ahLst/>
            <a:cxnLst/>
            <a:rect r="r" b="b" t="t" l="l"/>
            <a:pathLst>
              <a:path h="3218050" w="3218050">
                <a:moveTo>
                  <a:pt x="0" y="0"/>
                </a:moveTo>
                <a:lnTo>
                  <a:pt x="3218051" y="0"/>
                </a:lnTo>
                <a:lnTo>
                  <a:pt x="3218051" y="3218051"/>
                </a:lnTo>
                <a:lnTo>
                  <a:pt x="0" y="3218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51559" y="4533398"/>
            <a:ext cx="3855831" cy="2585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64"/>
              </a:lnSpc>
            </a:pPr>
            <a:r>
              <a:rPr lang="en-US" sz="8688" spc="-217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YOU´RE READY!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DAHI3sIv-Yc</dc:identifier>
  <dcterms:modified xsi:type="dcterms:W3CDTF">2011-08-01T06:04:30Z</dcterms:modified>
  <cp:revision>1</cp:revision>
  <dc:title>Blockchain Guide</dc:title>
</cp:coreProperties>
</file>